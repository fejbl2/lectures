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58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6" autoAdjust="0"/>
    <p:restoredTop sz="94660"/>
  </p:normalViewPr>
  <p:slideViewPr>
    <p:cSldViewPr snapToGrid="0">
      <p:cViewPr varScale="1">
        <p:scale>
          <a:sx n="98" d="100"/>
          <a:sy n="98" d="100"/>
        </p:scale>
        <p:origin x="63" y="5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C53B5-B8CE-4228-9A59-D7589090FC7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FC126-FDD8-4F77-8B41-98F341429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4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FC126-FDD8-4F77-8B41-98F341429BF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8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EFC126-FDD8-4F77-8B41-98F341429BF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62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4673A-E2D5-13CD-A0CF-A8BE5AA6A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D9081ED-7646-B59B-9D0D-5091C0EF3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5989035-6279-42A6-041A-2472FC135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50C77-02E3-4B73-99A8-8DCBAA1422AA}" type="datetimeFigureOut">
              <a:rPr lang="cs-CZ" smtClean="0"/>
              <a:t>30.11.2025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B37D2DA-BBEC-1359-BEA8-361EBA455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BB1CBB6-6A94-8B04-6215-4D29AC2DC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0A91E-FD04-425F-A31A-BA4B087988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880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85D4E-1F4D-8A88-EBB7-39DED50CB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E2C9B97-F9B4-B75F-5967-A56D92188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E606227-8EC9-B218-AA32-BD746B54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50C77-02E3-4B73-99A8-8DCBAA1422AA}" type="datetimeFigureOut">
              <a:rPr lang="cs-CZ" smtClean="0"/>
              <a:t>30.11.2025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95DAABF-BB48-94B2-9A23-37613CD1E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D7476F8-0C52-12B9-8A47-36CDAFCE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0A91E-FD04-425F-A31A-BA4B087988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2099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5E6F83-A812-C014-6FE1-128ED6BF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9E726D5-E2F0-2F7B-CC0D-08D775039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693A2D-2915-E4E4-E60E-14BDFFC8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50C77-02E3-4B73-99A8-8DCBAA1422AA}" type="datetimeFigureOut">
              <a:rPr lang="cs-CZ" smtClean="0"/>
              <a:t>30.11.2025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91316C1-8BAE-57E0-E1EB-2D1C7D452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6FF195B-639D-D638-89A1-73BD23D62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0A91E-FD04-425F-A31A-BA4B087988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5961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6EBFC5-54A6-B719-AB7F-2F6017EA6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B56D9FA-2DBA-D2BA-38DD-329B5710D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3D4AE3A-A45A-A6B0-38B1-3AD06F901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BB7F19F-A64D-D7CF-4D12-288770F6F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50C77-02E3-4B73-99A8-8DCBAA1422AA}" type="datetimeFigureOut">
              <a:rPr lang="cs-CZ" smtClean="0"/>
              <a:t>30.11.2025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A60CAF1-41EE-4AFE-8B43-9C218C566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BEBF8C1-C612-F1DA-F23F-2816FD7AF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0A91E-FD04-425F-A31A-BA4B087988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1799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9A20FD-C780-EF20-EBA9-B1B173C51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F293772-00AF-D048-5904-234DD836A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8B37BE6-346C-4033-D7D0-2580B88A3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99BA865-8C89-180A-9BEB-8FD46C6192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B66FFAC-9B9A-9E5E-996C-37465DEA2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993FA18-F8AB-5DFA-6529-CB308CA37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50C77-02E3-4B73-99A8-8DCBAA1422AA}" type="datetimeFigureOut">
              <a:rPr lang="cs-CZ" smtClean="0"/>
              <a:t>30.11.2025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E250F5AA-8FCB-F0CE-43C4-271A5BF9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34F99AD-C3F5-D448-0A90-E4446E987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0A91E-FD04-425F-A31A-BA4B087988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2817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A57380-53C2-F346-8DFA-ACFD2FF1E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A402EF2-DE3C-F7F7-EEC8-670FFE28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50C77-02E3-4B73-99A8-8DCBAA1422AA}" type="datetimeFigureOut">
              <a:rPr lang="cs-CZ" smtClean="0"/>
              <a:t>30.11.2025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5E874A1-2DB1-02B2-5339-6B27896C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EF96668-DEB5-590F-F974-EB5C2F943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0A91E-FD04-425F-A31A-BA4B087988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2208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FB3FDC6-39B4-867A-429D-915FB1745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50C77-02E3-4B73-99A8-8DCBAA1422AA}" type="datetimeFigureOut">
              <a:rPr lang="cs-CZ" smtClean="0"/>
              <a:t>30.11.2025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0B39DC-1912-F8CB-3564-751B430F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29FCD16-8010-1823-7F8C-96198A287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0A91E-FD04-425F-A31A-BA4B087988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1233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9B5764-71DB-1534-8778-CDBDB3FFC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69CFF0C-975D-148A-1A95-DE859DACC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5F233F8-7FD5-2C97-9E3B-A623EAA06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DB9B95A-7250-5EFC-0C48-67C2381CA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50C77-02E3-4B73-99A8-8DCBAA1422AA}" type="datetimeFigureOut">
              <a:rPr lang="cs-CZ" smtClean="0"/>
              <a:t>30.11.2025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F21C57B-0603-335C-B4D5-20560B973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6B8FF1C-E084-A671-1BBC-AC1121874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0A91E-FD04-425F-A31A-BA4B087988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2005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462103-4DCE-01C4-7427-6339F35A1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65EDA40-6C8A-264F-451D-C96FA3D15F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228F217-403A-D009-C1AF-5568A34B9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ED986A3-B080-3CF4-1FCA-13BBDF367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50C77-02E3-4B73-99A8-8DCBAA1422AA}" type="datetimeFigureOut">
              <a:rPr lang="cs-CZ" smtClean="0"/>
              <a:t>30.11.2025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B126394-D97A-6FE9-320D-959B9BAB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4A32D13-4818-309C-DB8E-6AF9E720D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0A91E-FD04-425F-A31A-BA4B087988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02129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5AE188-FF4C-C00B-F07B-40EA53DB3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C177157-602D-3658-F73E-BCA72DE66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9BA2E1A-249D-57EE-E7FD-75054E5C4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50C77-02E3-4B73-99A8-8DCBAA1422AA}" type="datetimeFigureOut">
              <a:rPr lang="cs-CZ" smtClean="0"/>
              <a:t>30.11.2025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34857CF-715A-5609-3A81-019ED39CB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BF26DE-818D-6CCD-F577-E7A20242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0A91E-FD04-425F-A31A-BA4B087988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9718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F8A4F0B-1DD2-B054-9325-2B1EDBE513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9F621B9-5821-DEA6-E84B-F92B8EB15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030BB34-CD96-BFDB-501D-139BA5C65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50C77-02E3-4B73-99A8-8DCBAA1422AA}" type="datetimeFigureOut">
              <a:rPr lang="cs-CZ" smtClean="0"/>
              <a:t>30.11.2025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E8CD6D7-7F83-4C98-6F5F-7834AFC5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0F082E-91FF-A62A-C15A-A7380EE5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0A91E-FD04-425F-A31A-BA4B087988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873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93FC07FF-153F-D274-79D0-89DAD2B50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DC0FB23-117A-BCE5-3EA0-616E2F3CD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CBDA3B3-EFD1-FDE6-FEC1-C6CA43DF6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50C77-02E3-4B73-99A8-8DCBAA1422AA}" type="datetimeFigureOut">
              <a:rPr lang="cs-CZ" smtClean="0"/>
              <a:t>30.11.2025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C69A5C7-B9C9-9866-CF25-93CF81EAB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733408-22E0-BF76-B515-262892B2B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10A91E-FD04-425F-A31A-BA4B0879888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972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AD/microsoft-authentication-library-for-js/blob/dev/lib/msal-browser/docs/login-user.md#silent-login-with-ssosilent" TargetMode="External"/><Relationship Id="rId2" Type="http://schemas.openxmlformats.org/officeDocument/2006/relationships/hyperlink" Target="https://www.npmjs.com/package/@azure/msal-browser/v/4.26.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entra/identity-platform/media/v2-oauth2-auth-code-flow/convergence-scenarios-native.sv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hromestatus.com/feature/5152728072060928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AD/microsoft-authentication-library-for-js/pull/8132" TargetMode="External"/><Relationship Id="rId2" Type="http://schemas.openxmlformats.org/officeDocument/2006/relationships/hyperlink" Target="https://github.com/AzureAD/microsoft-authentication-library-for-js/issues/810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ejbl2/lectur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hyperlink" Target="https://www.linkedin.com/in/robert-gemr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D6C92D-C746-14C5-34C4-29593226F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4390"/>
            <a:ext cx="9144000" cy="2387600"/>
          </a:xfrm>
        </p:spPr>
        <p:txBody>
          <a:bodyPr/>
          <a:lstStyle/>
          <a:p>
            <a:r>
              <a:rPr lang="en-US" noProof="0" dirty="0"/>
              <a:t>How Chrome 142 broke single sign on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4E7D85A-9CBA-606B-B977-87CE93BCE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7534"/>
            <a:ext cx="9144000" cy="1655762"/>
          </a:xfrm>
        </p:spPr>
        <p:txBody>
          <a:bodyPr>
            <a:normAutofit/>
          </a:bodyPr>
          <a:lstStyle/>
          <a:p>
            <a:r>
              <a:rPr lang="en-US" noProof="0" dirty="0"/>
              <a:t>Robert Gemrot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67245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4AEA7-17DA-C9DD-8967-E0977C2F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77DD2-2377-2345-1806-C4A01360B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Broken autologin out of nowhere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@azure/msal-browser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ssoSilent</a:t>
            </a:r>
            <a:r>
              <a:rPr lang="en-US" dirty="0">
                <a:cs typeface="Courier New" panose="02070309020205020404" pitchFamily="49" charset="0"/>
              </a:rPr>
              <a:t> (</a:t>
            </a:r>
            <a:r>
              <a:rPr lang="en-US" dirty="0">
                <a:cs typeface="Courier New" panose="02070309020205020404" pitchFamily="49" charset="0"/>
                <a:hlinkClick r:id="rId3"/>
              </a:rPr>
              <a:t>docs</a:t>
            </a:r>
            <a:r>
              <a:rPr lang="en-US" dirty="0"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en-US" dirty="0"/>
              <a:t>DEMO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A502AE-53E2-7BC6-CBB1-F3980B963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31347"/>
            <a:ext cx="7602389" cy="138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159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C6F8-F534-8844-9D16-9D5410DD7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Diagnostic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A51B7-FFDC-2564-6237-F630D5356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BrowserAuthError</a:t>
            </a:r>
            <a:r>
              <a:rPr lang="en-US" dirty="0"/>
              <a:t>: </a:t>
            </a:r>
            <a:r>
              <a:rPr lang="en-US" b="1" dirty="0" err="1"/>
              <a:t>monitor_window_timeout</a:t>
            </a:r>
            <a:r>
              <a:rPr lang="en-US" dirty="0"/>
              <a:t>: Token acquisition in </a:t>
            </a:r>
            <a:r>
              <a:rPr lang="en-US" b="1" dirty="0" err="1"/>
              <a:t>iframe</a:t>
            </a:r>
            <a:r>
              <a:rPr lang="en-US" dirty="0"/>
              <a:t> failed due to timeout</a:t>
            </a:r>
          </a:p>
          <a:p>
            <a:r>
              <a:rPr lang="cs-CZ" b="1" dirty="0"/>
              <a:t>CORS</a:t>
            </a:r>
            <a:r>
              <a:rPr lang="cs-CZ" dirty="0"/>
              <a:t> error</a:t>
            </a:r>
          </a:p>
          <a:p>
            <a:pPr lvl="1"/>
            <a:r>
              <a:rPr lang="cs-CZ" dirty="0" err="1"/>
              <a:t>Maybe</a:t>
            </a:r>
            <a:r>
              <a:rPr lang="cs-CZ" dirty="0"/>
              <a:t> </a:t>
            </a:r>
            <a:r>
              <a:rPr lang="cs-CZ" dirty="0" err="1"/>
              <a:t>missing</a:t>
            </a:r>
            <a:r>
              <a:rPr lang="cs-CZ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Access-Control-Allow-Origin</a:t>
            </a:r>
            <a:r>
              <a:rPr lang="cs-CZ" dirty="0"/>
              <a:t>?</a:t>
            </a:r>
          </a:p>
          <a:p>
            <a:pPr lvl="1"/>
            <a:endParaRPr lang="cs-CZ" dirty="0"/>
          </a:p>
          <a:p>
            <a:endParaRPr lang="cs-CZ" dirty="0"/>
          </a:p>
          <a:p>
            <a:r>
              <a:rPr lang="cs-CZ" dirty="0" err="1"/>
              <a:t>Need</a:t>
            </a:r>
            <a:r>
              <a:rPr lang="cs-CZ" dirty="0"/>
              <a:t> to </a:t>
            </a:r>
            <a:r>
              <a:rPr lang="cs-CZ" dirty="0" err="1"/>
              <a:t>dig</a:t>
            </a:r>
            <a:r>
              <a:rPr lang="cs-CZ" dirty="0"/>
              <a:t> </a:t>
            </a:r>
            <a:r>
              <a:rPr lang="cs-CZ" dirty="0" err="1"/>
              <a:t>deeper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598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6099-90B8-C6D6-E77A-03794D776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OAuth2 Authorization Code flow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7E01E9D-FF73-A109-B2F7-A0E679475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6603"/>
          <a:stretch>
            <a:fillRect/>
          </a:stretch>
        </p:blipFill>
        <p:spPr>
          <a:xfrm>
            <a:off x="680400" y="1601837"/>
            <a:ext cx="8769725" cy="35112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6DB8B1-0615-9A73-9EC7-70F86246DB33}"/>
              </a:ext>
            </a:extLst>
          </p:cNvPr>
          <p:cNvSpPr txBox="1"/>
          <p:nvPr/>
        </p:nvSpPr>
        <p:spPr>
          <a:xfrm>
            <a:off x="905786" y="5312142"/>
            <a:ext cx="67653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900" dirty="0">
                <a:hlinkClick r:id="rId3"/>
              </a:rPr>
              <a:t>https://learn.microsoft.com/en-us/entra/identity-platform/media/v2-oauth2-auth-code-flow/convergence-scenarios-native.svg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08914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31B84-EA2A-1B7D-7305-E9E407E1D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The </a:t>
            </a:r>
            <a:r>
              <a:rPr lang="cs-CZ" dirty="0" err="1"/>
              <a:t>iframe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B1C8E-5E3A-1B9C-3375-D8229F84F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ssoSilent</a:t>
            </a:r>
            <a:r>
              <a:rPr lang="cs-CZ" dirty="0">
                <a:cs typeface="Courier New" panose="02070309020205020404" pitchFamily="49" charset="0"/>
              </a:rPr>
              <a:t> </a:t>
            </a:r>
            <a:r>
              <a:rPr lang="cs-CZ" dirty="0" err="1">
                <a:cs typeface="Courier New" panose="02070309020205020404" pitchFamily="49" charset="0"/>
              </a:rPr>
              <a:t>creates</a:t>
            </a:r>
            <a:r>
              <a:rPr lang="cs-CZ" dirty="0">
                <a:cs typeface="Courier New" panose="02070309020205020404" pitchFamily="49" charset="0"/>
              </a:rPr>
              <a:t> a </a:t>
            </a:r>
            <a:r>
              <a:rPr lang="cs-CZ" dirty="0" err="1">
                <a:cs typeface="Courier New" panose="02070309020205020404" pitchFamily="49" charset="0"/>
              </a:rPr>
              <a:t>hidden</a:t>
            </a:r>
            <a:r>
              <a:rPr lang="cs-CZ" dirty="0">
                <a:cs typeface="Courier New" panose="02070309020205020404" pitchFamily="49" charset="0"/>
              </a:rPr>
              <a:t> </a:t>
            </a:r>
            <a:r>
              <a:rPr lang="cs-CZ" dirty="0" err="1">
                <a:cs typeface="Courier New" panose="02070309020205020404" pitchFamily="49" charset="0"/>
              </a:rPr>
              <a:t>iframe</a:t>
            </a:r>
            <a:endParaRPr lang="cs-CZ" dirty="0">
              <a:cs typeface="Courier New" panose="02070309020205020404" pitchFamily="49" charset="0"/>
            </a:endParaRPr>
          </a:p>
          <a:p>
            <a:r>
              <a:rPr lang="cs-CZ" dirty="0" err="1">
                <a:cs typeface="Courier New" panose="02070309020205020404" pitchFamily="49" charset="0"/>
              </a:rPr>
              <a:t>iframe</a:t>
            </a:r>
            <a:r>
              <a:rPr lang="cs-CZ" dirty="0">
                <a:cs typeface="Courier New" panose="02070309020205020404" pitchFamily="49" charset="0"/>
              </a:rPr>
              <a:t> </a:t>
            </a:r>
            <a:r>
              <a:rPr lang="cs-CZ" dirty="0" err="1">
                <a:cs typeface="Courier New" panose="02070309020205020404" pitchFamily="49" charset="0"/>
              </a:rPr>
              <a:t>loads</a:t>
            </a:r>
            <a:r>
              <a:rPr lang="cs-CZ" dirty="0">
                <a:cs typeface="Courier New" panose="02070309020205020404" pitchFamily="49" charset="0"/>
              </a:rPr>
              <a:t> </a:t>
            </a:r>
            <a:r>
              <a:rPr lang="cs-CZ" dirty="0">
                <a:latin typeface="Courier New" panose="02070309020205020404" pitchFamily="49" charset="0"/>
                <a:cs typeface="Courier New" panose="02070309020205020404" pitchFamily="49" charset="0"/>
              </a:rPr>
              <a:t>login.microsoftonline.com/…/</a:t>
            </a:r>
            <a:r>
              <a:rPr lang="cs-CZ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authorize</a:t>
            </a:r>
            <a:endParaRPr lang="cs-CZ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cs-CZ" dirty="0" err="1">
                <a:cs typeface="Courier New" panose="02070309020205020404" pitchFamily="49" charset="0"/>
              </a:rPr>
              <a:t>Redirect</a:t>
            </a:r>
            <a:r>
              <a:rPr lang="cs-CZ" dirty="0">
                <a:cs typeface="Courier New" panose="02070309020205020404" pitchFamily="49" charset="0"/>
              </a:rPr>
              <a:t> to </a:t>
            </a:r>
            <a:r>
              <a:rPr lang="cs-CZ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localhost</a:t>
            </a:r>
            <a:r>
              <a:rPr lang="cs-CZ" dirty="0">
                <a:latin typeface="Courier New" panose="02070309020205020404" pitchFamily="49" charset="0"/>
                <a:cs typeface="Courier New" panose="02070309020205020404" pitchFamily="49" charset="0"/>
              </a:rPr>
              <a:t>/login-landing.html</a:t>
            </a:r>
          </a:p>
          <a:p>
            <a:r>
              <a:rPr lang="cs-CZ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ssoSilent</a:t>
            </a:r>
            <a:r>
              <a:rPr lang="cs-CZ" dirty="0">
                <a:cs typeface="Courier New" panose="02070309020205020404" pitchFamily="49" charset="0"/>
              </a:rPr>
              <a:t> </a:t>
            </a:r>
            <a:r>
              <a:rPr lang="cs-CZ" dirty="0" err="1">
                <a:cs typeface="Courier New" panose="02070309020205020404" pitchFamily="49" charset="0"/>
              </a:rPr>
              <a:t>polls</a:t>
            </a:r>
            <a:r>
              <a:rPr lang="cs-CZ" dirty="0">
                <a:cs typeface="Courier New" panose="02070309020205020404" pitchFamily="49" charset="0"/>
              </a:rPr>
              <a:t> for the </a:t>
            </a:r>
            <a:r>
              <a:rPr lang="cs-CZ" dirty="0" err="1">
                <a:cs typeface="Courier New" panose="02070309020205020404" pitchFamily="49" charset="0"/>
              </a:rPr>
              <a:t>iframe</a:t>
            </a:r>
            <a:r>
              <a:rPr lang="cs-CZ" dirty="0">
                <a:cs typeface="Courier New" panose="02070309020205020404" pitchFamily="49" charset="0"/>
              </a:rPr>
              <a:t> URL</a:t>
            </a:r>
          </a:p>
          <a:p>
            <a:pPr lvl="1"/>
            <a:r>
              <a:rPr lang="cs-CZ" b="1" dirty="0">
                <a:cs typeface="Courier New" panose="02070309020205020404" pitchFamily="49" charset="0"/>
              </a:rPr>
              <a:t>Or </a:t>
            </a:r>
            <a:r>
              <a:rPr lang="cs-CZ" b="1" dirty="0" err="1">
                <a:cs typeface="Courier New" panose="02070309020205020404" pitchFamily="49" charset="0"/>
              </a:rPr>
              <a:t>times</a:t>
            </a:r>
            <a:r>
              <a:rPr lang="cs-CZ" b="1" dirty="0">
                <a:cs typeface="Courier New" panose="02070309020205020404" pitchFamily="49" charset="0"/>
              </a:rPr>
              <a:t> out</a:t>
            </a:r>
          </a:p>
          <a:p>
            <a:endParaRPr lang="cs-CZ" dirty="0">
              <a:cs typeface="Courier New" panose="02070309020205020404" pitchFamily="49" charset="0"/>
            </a:endParaRPr>
          </a:p>
          <a:p>
            <a:r>
              <a:rPr lang="cs-CZ" sz="1600" dirty="0">
                <a:cs typeface="Courier New" panose="02070309020205020404" pitchFamily="49" charset="0"/>
              </a:rPr>
              <a:t>If successful, </a:t>
            </a:r>
            <a:r>
              <a:rPr lang="cs-CZ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ssoSilent</a:t>
            </a:r>
            <a:r>
              <a:rPr lang="cs-CZ" sz="1600" dirty="0">
                <a:cs typeface="Courier New" panose="02070309020205020404" pitchFamily="49" charset="0"/>
              </a:rPr>
              <a:t> </a:t>
            </a:r>
            <a:r>
              <a:rPr lang="cs-CZ" sz="1600" dirty="0" err="1">
                <a:cs typeface="Courier New" panose="02070309020205020404" pitchFamily="49" charset="0"/>
              </a:rPr>
              <a:t>extracts</a:t>
            </a:r>
            <a:r>
              <a:rPr lang="cs-CZ" sz="1600" dirty="0">
                <a:cs typeface="Courier New" panose="02070309020205020404" pitchFamily="49" charset="0"/>
              </a:rPr>
              <a:t> the </a:t>
            </a:r>
            <a:r>
              <a:rPr lang="cs-CZ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lang="cs-CZ" sz="1600" dirty="0">
                <a:cs typeface="Courier New" panose="02070309020205020404" pitchFamily="49" charset="0"/>
              </a:rPr>
              <a:t> and </a:t>
            </a:r>
            <a:r>
              <a:rPr lang="cs-CZ" sz="1600" dirty="0" err="1">
                <a:cs typeface="Courier New" panose="02070309020205020404" pitchFamily="49" charset="0"/>
              </a:rPr>
              <a:t>calls</a:t>
            </a:r>
            <a:r>
              <a:rPr lang="cs-CZ" sz="1600" dirty="0">
                <a:cs typeface="Courier New" panose="02070309020205020404" pitchFamily="49" charset="0"/>
              </a:rPr>
              <a:t> </a:t>
            </a:r>
            <a:r>
              <a:rPr lang="cs-CZ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/token</a:t>
            </a:r>
          </a:p>
          <a:p>
            <a:pPr marL="457200" lvl="1" indent="0">
              <a:buNone/>
            </a:pPr>
            <a:r>
              <a:rPr lang="cs-CZ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774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78494-F41B-A9E2-21D1-5F324D8E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network access restrictions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773B5-9646-A272-37AF-FE3D9771E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3"/>
              </a:rPr>
              <a:t>New browser feature</a:t>
            </a:r>
            <a:endParaRPr lang="cs-CZ" dirty="0"/>
          </a:p>
          <a:p>
            <a:pPr lvl="1"/>
            <a:r>
              <a:rPr lang="cs-CZ" dirty="0"/>
              <a:t>Default ON in Chrome v142</a:t>
            </a:r>
          </a:p>
          <a:p>
            <a:r>
              <a:rPr lang="cs-CZ" dirty="0"/>
              <a:t>Public </a:t>
            </a:r>
            <a:r>
              <a:rPr lang="cs-CZ" dirty="0" err="1"/>
              <a:t>websites</a:t>
            </a:r>
            <a:r>
              <a:rPr lang="cs-CZ" dirty="0"/>
              <a:t> </a:t>
            </a:r>
            <a:r>
              <a:rPr lang="cs-CZ" dirty="0" err="1"/>
              <a:t>cannot</a:t>
            </a:r>
            <a:r>
              <a:rPr lang="cs-CZ" dirty="0"/>
              <a:t> access local network</a:t>
            </a:r>
          </a:p>
          <a:p>
            <a:pPr lvl="1"/>
            <a:r>
              <a:rPr lang="cs-CZ" dirty="0">
                <a:latin typeface="Courier New" panose="02070309020205020404" pitchFamily="49" charset="0"/>
                <a:cs typeface="Courier New" panose="02070309020205020404" pitchFamily="49" charset="0"/>
              </a:rPr>
              <a:t>login.microsoftonline.com</a:t>
            </a:r>
            <a:r>
              <a:rPr lang="cs-CZ" dirty="0">
                <a:cs typeface="Courier New" panose="02070309020205020404" pitchFamily="49" charset="0"/>
              </a:rPr>
              <a:t> </a:t>
            </a:r>
            <a:r>
              <a:rPr lang="cs-CZ" dirty="0" err="1">
                <a:cs typeface="Courier New" panose="02070309020205020404" pitchFamily="49" charset="0"/>
              </a:rPr>
              <a:t>resolves</a:t>
            </a:r>
            <a:r>
              <a:rPr lang="cs-CZ" dirty="0">
                <a:cs typeface="Courier New" panose="02070309020205020404" pitchFamily="49" charset="0"/>
              </a:rPr>
              <a:t> to a public IP</a:t>
            </a:r>
          </a:p>
          <a:p>
            <a:pPr lvl="1"/>
            <a:r>
              <a:rPr lang="cs-CZ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localhost</a:t>
            </a:r>
            <a:r>
              <a:rPr lang="cs-CZ" dirty="0">
                <a:cs typeface="Courier New" panose="02070309020205020404" pitchFamily="49" charset="0"/>
              </a:rPr>
              <a:t> is local network</a:t>
            </a:r>
          </a:p>
          <a:p>
            <a:pPr lvl="1"/>
            <a:r>
              <a:rPr lang="cs-CZ" dirty="0">
                <a:cs typeface="Courier New" panose="02070309020205020404" pitchFamily="49" charset="0"/>
              </a:rPr>
              <a:t>Browser </a:t>
            </a:r>
            <a:r>
              <a:rPr lang="cs-CZ" dirty="0" err="1">
                <a:cs typeface="Courier New" panose="02070309020205020404" pitchFamily="49" charset="0"/>
              </a:rPr>
              <a:t>blocks</a:t>
            </a:r>
            <a:r>
              <a:rPr lang="cs-CZ" dirty="0">
                <a:cs typeface="Courier New" panose="02070309020205020404" pitchFamily="49" charset="0"/>
              </a:rPr>
              <a:t> the request</a:t>
            </a:r>
          </a:p>
          <a:p>
            <a:r>
              <a:rPr lang="cs-CZ" dirty="0">
                <a:cs typeface="Courier New" panose="02070309020205020404" pitchFamily="49" charset="0"/>
              </a:rPr>
              <a:t>User prompt?</a:t>
            </a:r>
          </a:p>
          <a:p>
            <a:pPr lvl="1"/>
            <a:r>
              <a:rPr lang="cs-CZ" dirty="0">
                <a:cs typeface="Courier New" panose="02070309020205020404" pitchFamily="49" charset="0"/>
              </a:rPr>
              <a:t>Only if </a:t>
            </a:r>
            <a:r>
              <a:rPr lang="cs-CZ" dirty="0" err="1">
                <a:cs typeface="Courier New" panose="02070309020205020404" pitchFamily="49" charset="0"/>
              </a:rPr>
              <a:t>iframe</a:t>
            </a:r>
            <a:r>
              <a:rPr lang="cs-CZ" dirty="0">
                <a:cs typeface="Courier New" panose="02070309020205020404" pitchFamily="49" charset="0"/>
              </a:rPr>
              <a:t> is </a:t>
            </a:r>
            <a:r>
              <a:rPr lang="cs-CZ" dirty="0" err="1">
                <a:cs typeface="Courier New" panose="02070309020205020404" pitchFamily="49" charset="0"/>
              </a:rPr>
              <a:t>allowed</a:t>
            </a:r>
            <a:endParaRPr lang="cs-CZ" dirty="0"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allow="local-network-access *"</a:t>
            </a:r>
          </a:p>
          <a:p>
            <a:pPr lvl="1"/>
            <a:endParaRPr lang="cs-CZ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3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4D332-CF48-ACF3-B744-809A37A67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How to </a:t>
            </a:r>
            <a:r>
              <a:rPr lang="cs-CZ" dirty="0" err="1"/>
              <a:t>solve</a:t>
            </a:r>
            <a:r>
              <a:rPr lang="cs-CZ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FA40E-FB65-2A28-A5FD-C96386B66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Lower</a:t>
            </a:r>
            <a:r>
              <a:rPr lang="cs-CZ" dirty="0"/>
              <a:t> the </a:t>
            </a:r>
            <a:r>
              <a:rPr lang="cs-CZ" dirty="0" err="1"/>
              <a:t>timeout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Wait for </a:t>
            </a:r>
            <a:r>
              <a:rPr lang="cs-CZ" dirty="0" err="1"/>
              <a:t>upstream</a:t>
            </a:r>
            <a:r>
              <a:rPr lang="cs-CZ" dirty="0"/>
              <a:t> fix</a:t>
            </a:r>
          </a:p>
          <a:p>
            <a:pPr lvl="1"/>
            <a:r>
              <a:rPr lang="en-US" sz="1600" u="sng" dirty="0">
                <a:hlinkClick r:id="rId2"/>
              </a:rPr>
              <a:t>https://github.com/AzureAD/microsoft-authentication-library-for-js/issues/8100</a:t>
            </a:r>
            <a:endParaRPr lang="cs-CZ" sz="1600" u="sng" dirty="0"/>
          </a:p>
          <a:p>
            <a:pPr lvl="1"/>
            <a:r>
              <a:rPr lang="en-US" sz="1600" u="sng" dirty="0">
                <a:hlinkClick r:id="rId3"/>
              </a:rPr>
              <a:t>https://github.com/AzureAD/microsoft-authentication-library-for-js/pull/8132</a:t>
            </a:r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5966C-162B-2AFB-02D9-FA70983AC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838" y="2453059"/>
            <a:ext cx="7518813" cy="137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16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E2335-52F7-8757-3CC0-2D7C4C0A0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Fishy</a:t>
            </a:r>
            <a:r>
              <a:rPr lang="cs-CZ" dirty="0"/>
              <a:t> Chrome </a:t>
            </a:r>
            <a:r>
              <a:rPr lang="cs-CZ" dirty="0" err="1"/>
              <a:t>mystery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72195-2FBA-58FC-0B67-CD0B99119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First vs. Second request behave </a:t>
            </a:r>
            <a:r>
              <a:rPr lang="cs-CZ" dirty="0" err="1"/>
              <a:t>differetly</a:t>
            </a:r>
            <a:endParaRPr lang="cs-CZ" dirty="0"/>
          </a:p>
          <a:p>
            <a:r>
              <a:rPr lang="cs-CZ" dirty="0"/>
              <a:t>First:</a:t>
            </a:r>
          </a:p>
          <a:p>
            <a:pPr lvl="1"/>
            <a:r>
              <a:rPr lang="en-US" dirty="0"/>
              <a:t>Reset settings to Chrome defaults</a:t>
            </a:r>
            <a:endParaRPr lang="cs-CZ" dirty="0"/>
          </a:p>
          <a:p>
            <a:pPr lvl="1"/>
            <a:r>
              <a:rPr lang="cs-CZ" dirty="0" err="1"/>
              <a:t>Correct</a:t>
            </a:r>
            <a:r>
              <a:rPr lang="cs-CZ" dirty="0"/>
              <a:t> </a:t>
            </a:r>
            <a:r>
              <a:rPr lang="cs-CZ" dirty="0" err="1"/>
              <a:t>redirect</a:t>
            </a:r>
            <a:r>
              <a:rPr lang="cs-CZ" dirty="0"/>
              <a:t> to </a:t>
            </a:r>
            <a:r>
              <a:rPr lang="cs-CZ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localhost</a:t>
            </a:r>
            <a:r>
              <a:rPr lang="cs-CZ" dirty="0">
                <a:latin typeface="Courier New" panose="02070309020205020404" pitchFamily="49" charset="0"/>
                <a:cs typeface="Courier New" panose="02070309020205020404" pitchFamily="49" charset="0"/>
              </a:rPr>
              <a:t>/login-landing.html</a:t>
            </a:r>
          </a:p>
          <a:p>
            <a:pPr lvl="1"/>
            <a:r>
              <a:rPr lang="cs-CZ" dirty="0"/>
              <a:t>B</a:t>
            </a:r>
            <a:r>
              <a:rPr lang="en-US" dirty="0" err="1"/>
              <a:t>rowser</a:t>
            </a:r>
            <a:r>
              <a:rPr lang="en-US" dirty="0"/>
              <a:t> blocks</a:t>
            </a:r>
          </a:p>
          <a:p>
            <a:pPr lvl="1"/>
            <a:r>
              <a:rPr lang="en-US" dirty="0"/>
              <a:t>Timeout</a:t>
            </a:r>
            <a:r>
              <a:rPr lang="cs-CZ" dirty="0"/>
              <a:t> </a:t>
            </a:r>
            <a:r>
              <a:rPr lang="cs-CZ" dirty="0" err="1"/>
              <a:t>kicks</a:t>
            </a:r>
            <a:r>
              <a:rPr lang="cs-CZ" dirty="0"/>
              <a:t> in</a:t>
            </a:r>
          </a:p>
          <a:p>
            <a:r>
              <a:rPr lang="cs-CZ" dirty="0"/>
              <a:t>Second</a:t>
            </a:r>
          </a:p>
          <a:p>
            <a:pPr lvl="1"/>
            <a:r>
              <a:rPr lang="cs-CZ" dirty="0"/>
              <a:t>…</a:t>
            </a:r>
          </a:p>
          <a:p>
            <a:pPr lvl="1"/>
            <a:r>
              <a:rPr lang="cs-CZ" dirty="0"/>
              <a:t>Browser </a:t>
            </a:r>
            <a:r>
              <a:rPr lang="cs-CZ" b="1" dirty="0"/>
              <a:t>ALLOWS</a:t>
            </a:r>
            <a:r>
              <a:rPr lang="cs-CZ" dirty="0"/>
              <a:t> – </a:t>
            </a:r>
            <a:r>
              <a:rPr lang="cs-CZ" dirty="0" err="1"/>
              <a:t>why</a:t>
            </a:r>
            <a:r>
              <a:rPr lang="cs-CZ" dirty="0"/>
              <a:t>? How?</a:t>
            </a:r>
            <a:endParaRPr lang="en-US" b="1" dirty="0"/>
          </a:p>
          <a:p>
            <a:pPr marL="457200" lvl="1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66515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9D02C-5400-B779-3496-3916C3EFF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3B2677-FC6D-08CA-4E23-D6A22AFA7E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Robert Gemrot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AE1697D-CA46-FAAA-6EBE-43EE3B17B9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>
                <a:hlinkClick r:id="rId3"/>
              </a:rPr>
              <a:t>github.com/fejbl2/</a:t>
            </a:r>
            <a:r>
              <a:rPr lang="cs-CZ" dirty="0" err="1">
                <a:hlinkClick r:id="rId3"/>
              </a:rPr>
              <a:t>lectures</a:t>
            </a:r>
            <a:endParaRPr lang="en-US" dirty="0"/>
          </a:p>
          <a:p>
            <a:r>
              <a:rPr lang="en-US" dirty="0">
                <a:hlinkClick r:id="rId4"/>
              </a:rPr>
              <a:t>linkedin.com/in/</a:t>
            </a:r>
            <a:r>
              <a:rPr lang="en-US" dirty="0" err="1">
                <a:hlinkClick r:id="rId4"/>
              </a:rPr>
              <a:t>robert-gemrot</a:t>
            </a:r>
            <a:endParaRPr lang="cs-CZ" dirty="0"/>
          </a:p>
        </p:txBody>
      </p:sp>
      <p:pic>
        <p:nvPicPr>
          <p:cNvPr id="5" name="Obrázek 4" descr="Obsah obrázku Lidská tvář, osoba, oblečení, úsměv&#10;&#10;Obsah vygenerovaný umělou inteligencí může být nesprávný.">
            <a:extLst>
              <a:ext uri="{FF2B5EF4-FFF2-40B4-BE49-F238E27FC236}">
                <a16:creationId xmlns:a16="http://schemas.microsoft.com/office/drawing/2014/main" id="{2B665301-E250-AAF0-8628-6A7D11C9C4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736" y="396135"/>
            <a:ext cx="2038527" cy="2408129"/>
          </a:xfrm>
          <a:prstGeom prst="rect">
            <a:avLst/>
          </a:prstGeom>
        </p:spPr>
      </p:pic>
      <p:pic>
        <p:nvPicPr>
          <p:cNvPr id="6" name="Obrázek 5" descr="Obsah obrázku text, snímek obrazovky, Grafika, kreslené&#10;&#10;Obsah generovaný pomocí AI může být nesprávný.">
            <a:extLst>
              <a:ext uri="{FF2B5EF4-FFF2-40B4-BE49-F238E27FC236}">
                <a16:creationId xmlns:a16="http://schemas.microsoft.com/office/drawing/2014/main" id="{686C8160-ED6C-D0E8-69F4-AA36DAC2C7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86" t="42029" r="28611" b="14435"/>
          <a:stretch>
            <a:fillRect/>
          </a:stretch>
        </p:blipFill>
        <p:spPr>
          <a:xfrm>
            <a:off x="9538347" y="4289728"/>
            <a:ext cx="2259306" cy="225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13234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2785</TotalTime>
  <Words>263</Words>
  <Application>Microsoft Office PowerPoint</Application>
  <PresentationFormat>Widescreen</PresentationFormat>
  <Paragraphs>64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Motiv Office</vt:lpstr>
      <vt:lpstr>How Chrome 142 broke single sign on</vt:lpstr>
      <vt:lpstr>Context</vt:lpstr>
      <vt:lpstr>Diagnostic</vt:lpstr>
      <vt:lpstr>OAuth2 Authorization Code flow</vt:lpstr>
      <vt:lpstr>The iframe</vt:lpstr>
      <vt:lpstr>Local network access restrictions</vt:lpstr>
      <vt:lpstr>How to solve?</vt:lpstr>
      <vt:lpstr>Fishy Chrome mystery</vt:lpstr>
      <vt:lpstr>Robert Gemrot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Gemrot</dc:creator>
  <cp:lastModifiedBy>Robert Gemrot</cp:lastModifiedBy>
  <cp:revision>68</cp:revision>
  <dcterms:created xsi:type="dcterms:W3CDTF">2025-06-08T18:10:50Z</dcterms:created>
  <dcterms:modified xsi:type="dcterms:W3CDTF">2025-11-30T16:50:17Z</dcterms:modified>
</cp:coreProperties>
</file>